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Playfair Display" charset="1" panose="00000000000000000000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720898" y="3879434"/>
            <a:ext cx="6492240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60991" y="1255365"/>
            <a:ext cx="12812055" cy="206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K</a:t>
            </a:r>
            <a:r>
              <a:rPr lang="en-US" b="true" sz="6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olamKala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Rule-Based Kolam Generation and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59983" y="4851607"/>
            <a:ext cx="601407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Palak Kolambe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Kirti Rasal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Ashvitha Sree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31179" y="8566969"/>
            <a:ext cx="982564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 the Guidance of  Dr. Sandeep Kulkarni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37661" y="7956757"/>
            <a:ext cx="305871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Course - BCA-AIML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33354" y="9897090"/>
            <a:ext cx="8329999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79797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FINAL YEAR PROJECT PRESENTATION - 2026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660" y="2575430"/>
            <a:ext cx="3963594" cy="6161737"/>
            <a:chOff x="0" y="0"/>
            <a:chExt cx="1043909" cy="16228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3909" cy="1622844"/>
            </a:xfrm>
            <a:custGeom>
              <a:avLst/>
              <a:gdLst/>
              <a:ahLst/>
              <a:cxnLst/>
              <a:rect r="r" b="b" t="t" l="l"/>
              <a:pathLst>
                <a:path h="1622844" w="1043909">
                  <a:moveTo>
                    <a:pt x="0" y="0"/>
                  </a:moveTo>
                  <a:lnTo>
                    <a:pt x="1043909" y="0"/>
                  </a:lnTo>
                  <a:lnTo>
                    <a:pt x="1043909" y="1622844"/>
                  </a:lnTo>
                  <a:lnTo>
                    <a:pt x="0" y="1622844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43909" cy="167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No Automated Analysis</a:t>
              </a:r>
            </a:p>
            <a:p>
              <a:pPr algn="ctr">
                <a:lnSpc>
                  <a:spcPts val="3640"/>
                </a:lnSpc>
              </a:pPr>
            </a:p>
            <a:p>
              <a:pPr algn="just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tools to extract dots, loops, symmetry, and complexity from Kolam images.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14444" y="2575430"/>
            <a:ext cx="4214357" cy="6161737"/>
            <a:chOff x="0" y="0"/>
            <a:chExt cx="1109954" cy="16228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954" cy="1622844"/>
            </a:xfrm>
            <a:custGeom>
              <a:avLst/>
              <a:gdLst/>
              <a:ahLst/>
              <a:cxnLst/>
              <a:rect r="r" b="b" t="t" l="l"/>
              <a:pathLst>
                <a:path h="1622844" w="1109954">
                  <a:moveTo>
                    <a:pt x="0" y="0"/>
                  </a:moveTo>
                  <a:lnTo>
                    <a:pt x="1109954" y="0"/>
                  </a:lnTo>
                  <a:lnTo>
                    <a:pt x="1109954" y="1622844"/>
                  </a:lnTo>
                  <a:lnTo>
                    <a:pt x="0" y="1622844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09954" cy="167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No Integrated System</a:t>
              </a:r>
            </a:p>
            <a:p>
              <a:pPr algn="ctr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Generation and analysis exist separately — no unified framework</a:t>
              </a: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2575430"/>
            <a:ext cx="4103744" cy="6161737"/>
            <a:chOff x="0" y="0"/>
            <a:chExt cx="1080821" cy="1622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0821" cy="1622844"/>
            </a:xfrm>
            <a:custGeom>
              <a:avLst/>
              <a:gdLst/>
              <a:ahLst/>
              <a:cxnLst/>
              <a:rect r="r" b="b" t="t" l="l"/>
              <a:pathLst>
                <a:path h="1622844" w="1080821">
                  <a:moveTo>
                    <a:pt x="0" y="0"/>
                  </a:moveTo>
                  <a:lnTo>
                    <a:pt x="1080821" y="0"/>
                  </a:lnTo>
                  <a:lnTo>
                    <a:pt x="1080821" y="1622844"/>
                  </a:lnTo>
                  <a:lnTo>
                    <a:pt x="0" y="1622844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80821" cy="167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Difficulty Encoding Rules</a:t>
              </a:r>
            </a:p>
            <a:p>
              <a:pPr algn="ctr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Artistic rules like continuity, symmetry, and non-overlapping paths are hard to model.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72925" y="2575430"/>
            <a:ext cx="4105602" cy="6161737"/>
            <a:chOff x="0" y="0"/>
            <a:chExt cx="1081311" cy="16228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311" cy="1622844"/>
            </a:xfrm>
            <a:custGeom>
              <a:avLst/>
              <a:gdLst/>
              <a:ahLst/>
              <a:cxnLst/>
              <a:rect r="r" b="b" t="t" l="l"/>
              <a:pathLst>
                <a:path h="1622844" w="1081311">
                  <a:moveTo>
                    <a:pt x="0" y="0"/>
                  </a:moveTo>
                  <a:lnTo>
                    <a:pt x="1081311" y="0"/>
                  </a:lnTo>
                  <a:lnTo>
                    <a:pt x="1081311" y="1622844"/>
                  </a:lnTo>
                  <a:lnTo>
                    <a:pt x="0" y="1622844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81311" cy="167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No Computational Representation</a:t>
              </a:r>
            </a:p>
            <a:p>
              <a:pPr algn="ctr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Kolams lack a standard digital format, making algorithmic processing difficult.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73366" y="775264"/>
            <a:ext cx="6203156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Problem Statement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18988" y="348297"/>
            <a:ext cx="6919079" cy="130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Introduction To Kolam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9205" y="1594803"/>
            <a:ext cx="9046317" cy="730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Kolam is a traditional geometric art form originating from South India.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created using dot grids (pulli) and continuous curves.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Patterns follow strict rules of symmetry, continuity, and non-overlapping paths.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Widely used for decorative and cultural purposes.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be modeled using computational geometry and algorithms.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32716" y="2904218"/>
            <a:ext cx="5533806" cy="5408309"/>
          </a:xfrm>
          <a:custGeom>
            <a:avLst/>
            <a:gdLst/>
            <a:ahLst/>
            <a:cxnLst/>
            <a:rect r="r" b="b" t="t" l="l"/>
            <a:pathLst>
              <a:path h="5408309" w="5533806">
                <a:moveTo>
                  <a:pt x="0" y="0"/>
                </a:moveTo>
                <a:lnTo>
                  <a:pt x="5533806" y="0"/>
                </a:lnTo>
                <a:lnTo>
                  <a:pt x="5533806" y="5408309"/>
                </a:lnTo>
                <a:lnTo>
                  <a:pt x="0" y="5408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9515" b="-2072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70719"/>
            <a:ext cx="9980966" cy="1493849"/>
            <a:chOff x="0" y="0"/>
            <a:chExt cx="2628732" cy="393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8732" cy="393442"/>
            </a:xfrm>
            <a:custGeom>
              <a:avLst/>
              <a:gdLst/>
              <a:ahLst/>
              <a:cxnLst/>
              <a:rect r="r" b="b" t="t" l="l"/>
              <a:pathLst>
                <a:path h="393442" w="2628732">
                  <a:moveTo>
                    <a:pt x="0" y="0"/>
                  </a:moveTo>
                  <a:lnTo>
                    <a:pt x="2628732" y="0"/>
                  </a:lnTo>
                  <a:lnTo>
                    <a:pt x="2628732" y="393442"/>
                  </a:lnTo>
                  <a:lnTo>
                    <a:pt x="0" y="393442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28732" cy="450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KolamKala Framework</a:t>
              </a:r>
            </a:p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</a:t>
              </a:r>
              <a:r>
                <a:rPr lang="en-US" sz="2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nified system for Kolam generation and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259843"/>
            <a:ext cx="9980966" cy="1427481"/>
            <a:chOff x="0" y="0"/>
            <a:chExt cx="2628732" cy="3759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28732" cy="375962"/>
            </a:xfrm>
            <a:custGeom>
              <a:avLst/>
              <a:gdLst/>
              <a:ahLst/>
              <a:cxnLst/>
              <a:rect r="r" b="b" t="t" l="l"/>
              <a:pathLst>
                <a:path h="375962" w="2628732">
                  <a:moveTo>
                    <a:pt x="0" y="0"/>
                  </a:moveTo>
                  <a:lnTo>
                    <a:pt x="2628732" y="0"/>
                  </a:lnTo>
                  <a:lnTo>
                    <a:pt x="2628732" y="375962"/>
                  </a:lnTo>
                  <a:lnTo>
                    <a:pt x="0" y="375962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628732" cy="433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Grid-Based Modeling</a:t>
              </a:r>
            </a:p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Uses</a:t>
              </a:r>
              <a:r>
                <a:rPr lang="en-US" sz="2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grid-based modeling and rule-based algorithms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984159"/>
            <a:ext cx="9980966" cy="1427481"/>
            <a:chOff x="0" y="0"/>
            <a:chExt cx="2628732" cy="3759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28732" cy="375962"/>
            </a:xfrm>
            <a:custGeom>
              <a:avLst/>
              <a:gdLst/>
              <a:ahLst/>
              <a:cxnLst/>
              <a:rect r="r" b="b" t="t" l="l"/>
              <a:pathLst>
                <a:path h="375962" w="2628732">
                  <a:moveTo>
                    <a:pt x="0" y="0"/>
                  </a:moveTo>
                  <a:lnTo>
                    <a:pt x="2628732" y="0"/>
                  </a:lnTo>
                  <a:lnTo>
                    <a:pt x="2628732" y="375962"/>
                  </a:lnTo>
                  <a:lnTo>
                    <a:pt x="0" y="375962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628732" cy="433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Rule-Based Generation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Combines computer vision + pattern generation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621190"/>
            <a:ext cx="9980966" cy="1787732"/>
            <a:chOff x="0" y="0"/>
            <a:chExt cx="2628732" cy="4708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28732" cy="470843"/>
            </a:xfrm>
            <a:custGeom>
              <a:avLst/>
              <a:gdLst/>
              <a:ahLst/>
              <a:cxnLst/>
              <a:rect r="r" b="b" t="t" l="l"/>
              <a:pathLst>
                <a:path h="470843" w="2628732">
                  <a:moveTo>
                    <a:pt x="0" y="0"/>
                  </a:moveTo>
                  <a:lnTo>
                    <a:pt x="2628732" y="0"/>
                  </a:lnTo>
                  <a:lnTo>
                    <a:pt x="2628732" y="470843"/>
                  </a:lnTo>
                  <a:lnTo>
                    <a:pt x="0" y="470843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628732" cy="527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Analysis &amp; Classification</a:t>
              </a:r>
            </a:p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Image processing + pattern classification and complexity scoring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83267" y="933450"/>
            <a:ext cx="9360337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Prop</a:t>
            </a: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osed Solution: KolamKala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957853" y="851505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828780" y="-1530383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6"/>
                </a:lnTo>
                <a:lnTo>
                  <a:pt x="0" y="13347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9792" y="2466931"/>
            <a:ext cx="6282461" cy="6924105"/>
          </a:xfrm>
          <a:custGeom>
            <a:avLst/>
            <a:gdLst/>
            <a:ahLst/>
            <a:cxnLst/>
            <a:rect r="r" b="b" t="t" l="l"/>
            <a:pathLst>
              <a:path h="6924105" w="6282461">
                <a:moveTo>
                  <a:pt x="0" y="0"/>
                </a:moveTo>
                <a:lnTo>
                  <a:pt x="6282462" y="0"/>
                </a:lnTo>
                <a:lnTo>
                  <a:pt x="6282462" y="6924105"/>
                </a:lnTo>
                <a:lnTo>
                  <a:pt x="0" y="6924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39" r="0" b="-29845"/>
            </a:stretch>
          </a:blipFill>
          <a:ln w="19050" cap="sq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831700" y="933450"/>
            <a:ext cx="6359128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0492" y="3198742"/>
            <a:ext cx="9704724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Client-server-based architecture.</a:t>
            </a:r>
          </a:p>
          <a:p>
            <a:pPr algn="l">
              <a:lnSpc>
                <a:spcPts val="3780"/>
              </a:lnSpc>
            </a:pP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Backend implemented using FastAPI (Python).</a:t>
            </a:r>
          </a:p>
          <a:p>
            <a:pPr algn="l">
              <a:lnSpc>
                <a:spcPts val="3780"/>
              </a:lnSpc>
            </a:pP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Modules for Pattern Generation and Pattern Analysis.</a:t>
            </a:r>
          </a:p>
          <a:p>
            <a:pPr algn="l">
              <a:lnSpc>
                <a:spcPts val="3780"/>
              </a:lnSpc>
            </a:pP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OpenCV, NumPy, Matplotlib for processing.</a:t>
            </a:r>
          </a:p>
          <a:p>
            <a:pPr algn="l">
              <a:lnSpc>
                <a:spcPts val="3780"/>
              </a:lnSpc>
            </a:pP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Follows Input → Process → Output (IPO) model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"/>
            </a:blip>
            <a:stretch>
              <a:fillRect l="0" t="-7914" r="-70810" b="-10660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3484"/>
            <a:ext cx="5206469" cy="3280318"/>
            <a:chOff x="0" y="0"/>
            <a:chExt cx="746215" cy="470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215" cy="470150"/>
            </a:xfrm>
            <a:custGeom>
              <a:avLst/>
              <a:gdLst/>
              <a:ahLst/>
              <a:cxnLst/>
              <a:rect r="r" b="b" t="t" l="l"/>
              <a:pathLst>
                <a:path h="470150" w="746215">
                  <a:moveTo>
                    <a:pt x="0" y="0"/>
                  </a:moveTo>
                  <a:lnTo>
                    <a:pt x="543015" y="0"/>
                  </a:lnTo>
                  <a:lnTo>
                    <a:pt x="746215" y="235075"/>
                  </a:lnTo>
                  <a:lnTo>
                    <a:pt x="543015" y="470150"/>
                  </a:lnTo>
                  <a:lnTo>
                    <a:pt x="0" y="470150"/>
                  </a:lnTo>
                  <a:lnTo>
                    <a:pt x="203200" y="23507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57150"/>
              <a:ext cx="492215" cy="52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899"/>
                </a:lnSpc>
              </a:pPr>
              <a:r>
                <a:rPr lang="en-US" sz="3499" b="true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Grid Creation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Generates a dot-grid (x, y coordinates) as the base structure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06469" y="1066186"/>
            <a:ext cx="8095059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Kola</a:t>
            </a: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 Generation Module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23871" y="4283484"/>
            <a:ext cx="5120129" cy="3280318"/>
            <a:chOff x="0" y="0"/>
            <a:chExt cx="733840" cy="470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3840" cy="470150"/>
            </a:xfrm>
            <a:custGeom>
              <a:avLst/>
              <a:gdLst/>
              <a:ahLst/>
              <a:cxnLst/>
              <a:rect r="r" b="b" t="t" l="l"/>
              <a:pathLst>
                <a:path h="470150" w="733840">
                  <a:moveTo>
                    <a:pt x="0" y="0"/>
                  </a:moveTo>
                  <a:lnTo>
                    <a:pt x="530640" y="0"/>
                  </a:lnTo>
                  <a:lnTo>
                    <a:pt x="733840" y="235075"/>
                  </a:lnTo>
                  <a:lnTo>
                    <a:pt x="530640" y="470150"/>
                  </a:lnTo>
                  <a:lnTo>
                    <a:pt x="0" y="470150"/>
                  </a:lnTo>
                  <a:lnTo>
                    <a:pt x="203200" y="23507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57150"/>
              <a:ext cx="479840" cy="52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Rule Engine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Applies Kolam rules (enclose dots, no retracing, valid connections)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959251" y="4283484"/>
            <a:ext cx="5671046" cy="3280318"/>
            <a:chOff x="0" y="0"/>
            <a:chExt cx="812800" cy="470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70150"/>
            </a:xfrm>
            <a:custGeom>
              <a:avLst/>
              <a:gdLst/>
              <a:ahLst/>
              <a:cxnLst/>
              <a:rect r="r" b="b" t="t" l="l"/>
              <a:pathLst>
                <a:path h="47015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35075"/>
                  </a:lnTo>
                  <a:lnTo>
                    <a:pt x="609600" y="470150"/>
                  </a:lnTo>
                  <a:lnTo>
                    <a:pt x="0" y="470150"/>
                  </a:lnTo>
                  <a:lnTo>
                    <a:pt x="203200" y="23507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57150"/>
              <a:ext cx="558800" cy="52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Path Algorithm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Uses graph traversal (DFS/backtracking) to create continuous paths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39973" y="4283484"/>
            <a:ext cx="5671046" cy="3280318"/>
            <a:chOff x="0" y="0"/>
            <a:chExt cx="812800" cy="470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70150"/>
            </a:xfrm>
            <a:custGeom>
              <a:avLst/>
              <a:gdLst/>
              <a:ahLst/>
              <a:cxnLst/>
              <a:rect r="r" b="b" t="t" l="l"/>
              <a:pathLst>
                <a:path h="47015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35075"/>
                  </a:lnTo>
                  <a:lnTo>
                    <a:pt x="609600" y="470150"/>
                  </a:lnTo>
                  <a:lnTo>
                    <a:pt x="0" y="470150"/>
                  </a:lnTo>
                  <a:lnTo>
                    <a:pt x="203200" y="23507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57150"/>
              <a:ext cx="558800" cy="52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Symmetry Handling</a:t>
              </a:r>
            </a:p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Applies reflection &amp;    rotation to ensure symmetric patterns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53995" y="705520"/>
            <a:ext cx="7193399" cy="262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Kola</a:t>
            </a: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 Analysis Module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</a:p>
          <a:p>
            <a:pPr algn="ctr">
              <a:lnSpc>
                <a:spcPts val="699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77145" y="1850879"/>
            <a:ext cx="12351431" cy="1318442"/>
            <a:chOff x="0" y="0"/>
            <a:chExt cx="1770263" cy="1889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0263" cy="188965"/>
            </a:xfrm>
            <a:custGeom>
              <a:avLst/>
              <a:gdLst/>
              <a:ahLst/>
              <a:cxnLst/>
              <a:rect r="r" b="b" t="t" l="l"/>
              <a:pathLst>
                <a:path h="188965" w="1770263">
                  <a:moveTo>
                    <a:pt x="0" y="0"/>
                  </a:moveTo>
                  <a:lnTo>
                    <a:pt x="1567063" y="0"/>
                  </a:lnTo>
                  <a:lnTo>
                    <a:pt x="1770263" y="94483"/>
                  </a:lnTo>
                  <a:lnTo>
                    <a:pt x="1567063" y="188965"/>
                  </a:lnTo>
                  <a:lnTo>
                    <a:pt x="0" y="188965"/>
                  </a:lnTo>
                  <a:lnTo>
                    <a:pt x="203200" y="94483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-57150"/>
              <a:ext cx="1516263" cy="24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899"/>
                </a:lnSpc>
              </a:pPr>
              <a:r>
                <a:rPr lang="en-US" sz="3499" b="true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Edge Detection</a:t>
              </a:r>
            </a:p>
            <a:p>
              <a:pPr algn="just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etects boundaries of Kolam lines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7145" y="3331246"/>
            <a:ext cx="12351431" cy="1482633"/>
            <a:chOff x="0" y="0"/>
            <a:chExt cx="1770263" cy="2124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0263" cy="212498"/>
            </a:xfrm>
            <a:custGeom>
              <a:avLst/>
              <a:gdLst/>
              <a:ahLst/>
              <a:cxnLst/>
              <a:rect r="r" b="b" t="t" l="l"/>
              <a:pathLst>
                <a:path h="212498" w="1770263">
                  <a:moveTo>
                    <a:pt x="0" y="0"/>
                  </a:moveTo>
                  <a:lnTo>
                    <a:pt x="1567063" y="0"/>
                  </a:lnTo>
                  <a:lnTo>
                    <a:pt x="1770263" y="106249"/>
                  </a:lnTo>
                  <a:lnTo>
                    <a:pt x="1567063" y="212498"/>
                  </a:lnTo>
                  <a:lnTo>
                    <a:pt x="0" y="212498"/>
                  </a:lnTo>
                  <a:lnTo>
                    <a:pt x="203200" y="106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79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57150"/>
              <a:ext cx="1516263" cy="26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Contour Detection</a:t>
              </a:r>
            </a:p>
            <a:p>
              <a:pPr algn="just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Id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entifies closed loops and shapes.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2614" y="4975804"/>
            <a:ext cx="12351431" cy="1482633"/>
            <a:chOff x="0" y="0"/>
            <a:chExt cx="1770263" cy="2124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0263" cy="212498"/>
            </a:xfrm>
            <a:custGeom>
              <a:avLst/>
              <a:gdLst/>
              <a:ahLst/>
              <a:cxnLst/>
              <a:rect r="r" b="b" t="t" l="l"/>
              <a:pathLst>
                <a:path h="212498" w="1770263">
                  <a:moveTo>
                    <a:pt x="0" y="0"/>
                  </a:moveTo>
                  <a:lnTo>
                    <a:pt x="1567063" y="0"/>
                  </a:lnTo>
                  <a:lnTo>
                    <a:pt x="1770263" y="106249"/>
                  </a:lnTo>
                  <a:lnTo>
                    <a:pt x="1567063" y="212498"/>
                  </a:lnTo>
                  <a:lnTo>
                    <a:pt x="0" y="212498"/>
                  </a:lnTo>
                  <a:lnTo>
                    <a:pt x="203200" y="106249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57150"/>
              <a:ext cx="1516263" cy="26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Hough Transform</a:t>
              </a:r>
            </a:p>
            <a:p>
              <a:pPr algn="just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etects lines and dot patterns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2614" y="6620362"/>
            <a:ext cx="12351431" cy="1482633"/>
            <a:chOff x="0" y="0"/>
            <a:chExt cx="1770263" cy="2124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0263" cy="212498"/>
            </a:xfrm>
            <a:custGeom>
              <a:avLst/>
              <a:gdLst/>
              <a:ahLst/>
              <a:cxnLst/>
              <a:rect r="r" b="b" t="t" l="l"/>
              <a:pathLst>
                <a:path h="212498" w="1770263">
                  <a:moveTo>
                    <a:pt x="0" y="0"/>
                  </a:moveTo>
                  <a:lnTo>
                    <a:pt x="1567063" y="0"/>
                  </a:lnTo>
                  <a:lnTo>
                    <a:pt x="1770263" y="106249"/>
                  </a:lnTo>
                  <a:lnTo>
                    <a:pt x="1567063" y="212498"/>
                  </a:lnTo>
                  <a:lnTo>
                    <a:pt x="0" y="212498"/>
                  </a:lnTo>
                  <a:lnTo>
                    <a:pt x="203200" y="106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79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57150"/>
              <a:ext cx="1516263" cy="26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Feature Extraction</a:t>
              </a:r>
            </a:p>
            <a:p>
              <a:pPr algn="just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Extracts dots, loops, symmetry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2614" y="8264920"/>
            <a:ext cx="12351431" cy="1672404"/>
            <a:chOff x="0" y="0"/>
            <a:chExt cx="1770263" cy="2396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0263" cy="239697"/>
            </a:xfrm>
            <a:custGeom>
              <a:avLst/>
              <a:gdLst/>
              <a:ahLst/>
              <a:cxnLst/>
              <a:rect r="r" b="b" t="t" l="l"/>
              <a:pathLst>
                <a:path h="239697" w="1770263">
                  <a:moveTo>
                    <a:pt x="0" y="0"/>
                  </a:moveTo>
                  <a:lnTo>
                    <a:pt x="1567063" y="0"/>
                  </a:lnTo>
                  <a:lnTo>
                    <a:pt x="1770263" y="119848"/>
                  </a:lnTo>
                  <a:lnTo>
                    <a:pt x="1567063" y="239697"/>
                  </a:lnTo>
                  <a:lnTo>
                    <a:pt x="0" y="239697"/>
                  </a:lnTo>
                  <a:lnTo>
                    <a:pt x="203200" y="119848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57150"/>
              <a:ext cx="1516263" cy="296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Classification</a:t>
              </a:r>
            </a:p>
            <a:p>
              <a:pPr algn="just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Classifies type &amp; computes complexity</a:t>
              </a:r>
            </a:p>
            <a:p>
              <a:pPr algn="just">
                <a:lnSpc>
                  <a:spcPts val="363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122994" y="5059138"/>
            <a:ext cx="1058915" cy="828678"/>
            <a:chOff x="0" y="0"/>
            <a:chExt cx="221414" cy="173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414" cy="173272"/>
            </a:xfrm>
            <a:custGeom>
              <a:avLst/>
              <a:gdLst/>
              <a:ahLst/>
              <a:cxnLst/>
              <a:rect r="r" b="b" t="t" l="l"/>
              <a:pathLst>
                <a:path h="173272" w="221414">
                  <a:moveTo>
                    <a:pt x="110707" y="173272"/>
                  </a:moveTo>
                  <a:lnTo>
                    <a:pt x="221414" y="0"/>
                  </a:lnTo>
                  <a:lnTo>
                    <a:pt x="0" y="0"/>
                  </a:lnTo>
                  <a:lnTo>
                    <a:pt x="110707" y="1732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4596" y="-44773"/>
              <a:ext cx="152222" cy="137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1105" y="3184713"/>
            <a:ext cx="4497007" cy="4577530"/>
            <a:chOff x="0" y="0"/>
            <a:chExt cx="1184397" cy="1205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4397" cy="1205605"/>
            </a:xfrm>
            <a:custGeom>
              <a:avLst/>
              <a:gdLst/>
              <a:ahLst/>
              <a:cxnLst/>
              <a:rect r="r" b="b" t="t" l="l"/>
              <a:pathLst>
                <a:path h="1205605" w="1184397">
                  <a:moveTo>
                    <a:pt x="0" y="0"/>
                  </a:moveTo>
                  <a:lnTo>
                    <a:pt x="1184397" y="0"/>
                  </a:lnTo>
                  <a:lnTo>
                    <a:pt x="1184397" y="1205605"/>
                  </a:lnTo>
                  <a:lnTo>
                    <a:pt x="0" y="1205605"/>
                  </a:lnTo>
                  <a:close/>
                </a:path>
              </a:pathLst>
            </a:custGeom>
            <a:solidFill>
              <a:srgbClr val="79797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84397" cy="127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b="true" sz="36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User Input</a:t>
              </a:r>
            </a:p>
            <a:p>
              <a:pPr algn="ctr">
                <a:lnSpc>
                  <a:spcPts val="5179"/>
                </a:lnSpc>
              </a:pPr>
            </a:p>
            <a:p>
              <a:pPr algn="l" marL="561344" indent="-280672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Select grid size / upload image</a:t>
              </a:r>
            </a:p>
            <a:p>
              <a:pPr algn="l" marL="561344" indent="-280672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Choose generation or analysis mode</a:t>
              </a:r>
            </a:p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35079" y="1069690"/>
            <a:ext cx="927973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System Demo / User Interface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66791" y="3184713"/>
            <a:ext cx="4782757" cy="4577530"/>
            <a:chOff x="0" y="0"/>
            <a:chExt cx="1259656" cy="12056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656" cy="1205605"/>
            </a:xfrm>
            <a:custGeom>
              <a:avLst/>
              <a:gdLst/>
              <a:ahLst/>
              <a:cxnLst/>
              <a:rect r="r" b="b" t="t" l="l"/>
              <a:pathLst>
                <a:path h="1205605" w="1259656">
                  <a:moveTo>
                    <a:pt x="0" y="0"/>
                  </a:moveTo>
                  <a:lnTo>
                    <a:pt x="1259656" y="0"/>
                  </a:lnTo>
                  <a:lnTo>
                    <a:pt x="1259656" y="1205605"/>
                  </a:lnTo>
                  <a:lnTo>
                    <a:pt x="0" y="1205605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259656" cy="127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b="true" sz="36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Processing</a:t>
              </a:r>
            </a:p>
            <a:p>
              <a:pPr algn="ctr">
                <a:lnSpc>
                  <a:spcPts val="5179"/>
                </a:lnSpc>
              </a:pPr>
            </a:p>
            <a:p>
              <a:pPr algn="l" marL="561344" indent="-280672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ckend executes generation or analysis modules</a:t>
              </a:r>
            </a:p>
            <a:p>
              <a:pPr algn="l" marL="561344" indent="-280672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Applies algorithms and rules</a:t>
              </a:r>
            </a:p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78226" y="3184713"/>
            <a:ext cx="4656811" cy="4577530"/>
            <a:chOff x="0" y="0"/>
            <a:chExt cx="1226485" cy="12056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6485" cy="1205605"/>
            </a:xfrm>
            <a:custGeom>
              <a:avLst/>
              <a:gdLst/>
              <a:ahLst/>
              <a:cxnLst/>
              <a:rect r="r" b="b" t="t" l="l"/>
              <a:pathLst>
                <a:path h="1205605" w="1226485">
                  <a:moveTo>
                    <a:pt x="0" y="0"/>
                  </a:moveTo>
                  <a:lnTo>
                    <a:pt x="1226485" y="0"/>
                  </a:lnTo>
                  <a:lnTo>
                    <a:pt x="1226485" y="1205605"/>
                  </a:lnTo>
                  <a:lnTo>
                    <a:pt x="0" y="1205605"/>
                  </a:lnTo>
                  <a:close/>
                </a:path>
              </a:pathLst>
            </a:custGeom>
            <a:solidFill>
              <a:srgbClr val="7979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26485" cy="1262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54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Output Display</a:t>
              </a:r>
            </a:p>
            <a:p>
              <a:pPr algn="ctr">
                <a:lnSpc>
                  <a:spcPts val="4899"/>
                </a:lnSpc>
              </a:pPr>
            </a:p>
            <a:p>
              <a:pPr algn="l" marL="561344" indent="-280672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enerated Kolam pattern.</a:t>
              </a:r>
            </a:p>
            <a:p>
              <a:pPr algn="l" marL="561344" indent="-280672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Analysis results (type, symmetry, complexity).</a:t>
              </a:r>
            </a:p>
            <a:p>
              <a:pPr algn="l">
                <a:lnSpc>
                  <a:spcPts val="3640"/>
                </a:lnSpc>
              </a:pPr>
            </a:p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0734429" y="5059138"/>
            <a:ext cx="1058915" cy="828678"/>
            <a:chOff x="0" y="0"/>
            <a:chExt cx="221414" cy="173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414" cy="173272"/>
            </a:xfrm>
            <a:custGeom>
              <a:avLst/>
              <a:gdLst/>
              <a:ahLst/>
              <a:cxnLst/>
              <a:rect r="r" b="b" t="t" l="l"/>
              <a:pathLst>
                <a:path h="173272" w="221414">
                  <a:moveTo>
                    <a:pt x="110707" y="173272"/>
                  </a:moveTo>
                  <a:lnTo>
                    <a:pt x="221414" y="0"/>
                  </a:lnTo>
                  <a:lnTo>
                    <a:pt x="0" y="0"/>
                  </a:lnTo>
                  <a:lnTo>
                    <a:pt x="110707" y="1732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4596" y="-44773"/>
              <a:ext cx="152222" cy="137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-284" t="0" r="-70526" b="-11452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91155" y="2870276"/>
            <a:ext cx="12840225" cy="6704188"/>
          </a:xfrm>
          <a:custGeom>
            <a:avLst/>
            <a:gdLst/>
            <a:ahLst/>
            <a:cxnLst/>
            <a:rect r="r" b="b" t="t" l="l"/>
            <a:pathLst>
              <a:path h="6704188" w="12840225">
                <a:moveTo>
                  <a:pt x="0" y="0"/>
                </a:moveTo>
                <a:lnTo>
                  <a:pt x="12840225" y="0"/>
                </a:lnTo>
                <a:lnTo>
                  <a:pt x="12840225" y="6704188"/>
                </a:lnTo>
                <a:lnTo>
                  <a:pt x="0" y="6704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11" t="-10376" r="-2707" b="-11382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20733" y="5143500"/>
            <a:ext cx="1345389" cy="442755"/>
          </a:xfrm>
          <a:custGeom>
            <a:avLst/>
            <a:gdLst/>
            <a:ahLst/>
            <a:cxnLst/>
            <a:rect r="r" b="b" t="t" l="l"/>
            <a:pathLst>
              <a:path h="442755" w="1345389">
                <a:moveTo>
                  <a:pt x="0" y="0"/>
                </a:moveTo>
                <a:lnTo>
                  <a:pt x="1345389" y="0"/>
                </a:lnTo>
                <a:lnTo>
                  <a:pt x="1345389" y="442755"/>
                </a:lnTo>
                <a:lnTo>
                  <a:pt x="0" y="442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9978" y="7575740"/>
            <a:ext cx="1638435" cy="539194"/>
          </a:xfrm>
          <a:custGeom>
            <a:avLst/>
            <a:gdLst/>
            <a:ahLst/>
            <a:cxnLst/>
            <a:rect r="r" b="b" t="t" l="l"/>
            <a:pathLst>
              <a:path h="539194" w="1638435">
                <a:moveTo>
                  <a:pt x="0" y="0"/>
                </a:moveTo>
                <a:lnTo>
                  <a:pt x="1638435" y="0"/>
                </a:lnTo>
                <a:lnTo>
                  <a:pt x="1638435" y="539194"/>
                </a:lnTo>
                <a:lnTo>
                  <a:pt x="0" y="5391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74963" y="3478615"/>
            <a:ext cx="2469159" cy="1664885"/>
            <a:chOff x="0" y="0"/>
            <a:chExt cx="650313" cy="438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313" cy="438488"/>
            </a:xfrm>
            <a:custGeom>
              <a:avLst/>
              <a:gdLst/>
              <a:ahLst/>
              <a:cxnLst/>
              <a:rect r="r" b="b" t="t" l="l"/>
              <a:pathLst>
                <a:path h="438488" w="650313">
                  <a:moveTo>
                    <a:pt x="0" y="0"/>
                  </a:moveTo>
                  <a:lnTo>
                    <a:pt x="650313" y="0"/>
                  </a:lnTo>
                  <a:lnTo>
                    <a:pt x="650313" y="438488"/>
                  </a:lnTo>
                  <a:lnTo>
                    <a:pt x="0" y="438488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50313" cy="495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93428" y="800714"/>
            <a:ext cx="14765872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Results / System Output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Generator Module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4848" y="3601128"/>
            <a:ext cx="218939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</a:t>
            </a: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controls (grid size, style)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78413" y="6706548"/>
            <a:ext cx="2181564" cy="1642762"/>
            <a:chOff x="0" y="0"/>
            <a:chExt cx="574568" cy="4326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4568" cy="432662"/>
            </a:xfrm>
            <a:custGeom>
              <a:avLst/>
              <a:gdLst/>
              <a:ahLst/>
              <a:cxnLst/>
              <a:rect r="r" b="b" t="t" l="l"/>
              <a:pathLst>
                <a:path h="432662" w="574568">
                  <a:moveTo>
                    <a:pt x="0" y="0"/>
                  </a:moveTo>
                  <a:lnTo>
                    <a:pt x="574568" y="0"/>
                  </a:lnTo>
                  <a:lnTo>
                    <a:pt x="574568" y="432662"/>
                  </a:lnTo>
                  <a:lnTo>
                    <a:pt x="0" y="432662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74568" cy="489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Generated Kolam pattern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6440" y="2787015"/>
            <a:ext cx="12138301" cy="7061223"/>
          </a:xfrm>
          <a:custGeom>
            <a:avLst/>
            <a:gdLst/>
            <a:ahLst/>
            <a:cxnLst/>
            <a:rect r="r" b="b" t="t" l="l"/>
            <a:pathLst>
              <a:path h="7061223" w="12138301">
                <a:moveTo>
                  <a:pt x="0" y="0"/>
                </a:moveTo>
                <a:lnTo>
                  <a:pt x="12138301" y="0"/>
                </a:lnTo>
                <a:lnTo>
                  <a:pt x="12138301" y="7061223"/>
                </a:lnTo>
                <a:lnTo>
                  <a:pt x="0" y="7061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99" t="-10072" r="-13799" b="-866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493428" y="800714"/>
            <a:ext cx="14765872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Results / System Output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Analyzer Module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0153" y="3464055"/>
            <a:ext cx="2469159" cy="1082132"/>
            <a:chOff x="0" y="0"/>
            <a:chExt cx="650313" cy="285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0313" cy="285006"/>
            </a:xfrm>
            <a:custGeom>
              <a:avLst/>
              <a:gdLst/>
              <a:ahLst/>
              <a:cxnLst/>
              <a:rect r="r" b="b" t="t" l="l"/>
              <a:pathLst>
                <a:path h="285006" w="650313">
                  <a:moveTo>
                    <a:pt x="0" y="0"/>
                  </a:moveTo>
                  <a:lnTo>
                    <a:pt x="650313" y="0"/>
                  </a:lnTo>
                  <a:lnTo>
                    <a:pt x="650313" y="285006"/>
                  </a:lnTo>
                  <a:lnTo>
                    <a:pt x="0" y="285006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50313" cy="342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Uploaded image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93428" y="4546187"/>
            <a:ext cx="1345389" cy="442755"/>
          </a:xfrm>
          <a:custGeom>
            <a:avLst/>
            <a:gdLst/>
            <a:ahLst/>
            <a:cxnLst/>
            <a:rect r="r" b="b" t="t" l="l"/>
            <a:pathLst>
              <a:path h="442755" w="1345389">
                <a:moveTo>
                  <a:pt x="0" y="0"/>
                </a:moveTo>
                <a:lnTo>
                  <a:pt x="1345389" y="0"/>
                </a:lnTo>
                <a:lnTo>
                  <a:pt x="1345389" y="442756"/>
                </a:lnTo>
                <a:lnTo>
                  <a:pt x="0" y="442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050016" y="4226499"/>
            <a:ext cx="2070950" cy="1082132"/>
            <a:chOff x="0" y="0"/>
            <a:chExt cx="545435" cy="285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435" cy="285006"/>
            </a:xfrm>
            <a:custGeom>
              <a:avLst/>
              <a:gdLst/>
              <a:ahLst/>
              <a:cxnLst/>
              <a:rect r="r" b="b" t="t" l="l"/>
              <a:pathLst>
                <a:path h="285006" w="545435">
                  <a:moveTo>
                    <a:pt x="0" y="0"/>
                  </a:moveTo>
                  <a:lnTo>
                    <a:pt x="545435" y="0"/>
                  </a:lnTo>
                  <a:lnTo>
                    <a:pt x="545435" y="285006"/>
                  </a:lnTo>
                  <a:lnTo>
                    <a:pt x="0" y="285006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45435" cy="342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Detected kolam type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10634748">
            <a:off x="14679953" y="4922122"/>
            <a:ext cx="1345389" cy="442755"/>
          </a:xfrm>
          <a:custGeom>
            <a:avLst/>
            <a:gdLst/>
            <a:ahLst/>
            <a:cxnLst/>
            <a:rect r="r" b="b" t="t" l="l"/>
            <a:pathLst>
              <a:path h="442755" w="1345389">
                <a:moveTo>
                  <a:pt x="0" y="0"/>
                </a:moveTo>
                <a:lnTo>
                  <a:pt x="1345389" y="0"/>
                </a:lnTo>
                <a:lnTo>
                  <a:pt x="1345389" y="442756"/>
                </a:lnTo>
                <a:lnTo>
                  <a:pt x="0" y="442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50016" y="6613291"/>
            <a:ext cx="2070950" cy="1539332"/>
            <a:chOff x="0" y="0"/>
            <a:chExt cx="545435" cy="4054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5435" cy="405421"/>
            </a:xfrm>
            <a:custGeom>
              <a:avLst/>
              <a:gdLst/>
              <a:ahLst/>
              <a:cxnLst/>
              <a:rect r="r" b="b" t="t" l="l"/>
              <a:pathLst>
                <a:path h="405421" w="545435">
                  <a:moveTo>
                    <a:pt x="0" y="0"/>
                  </a:moveTo>
                  <a:lnTo>
                    <a:pt x="545435" y="0"/>
                  </a:lnTo>
                  <a:lnTo>
                    <a:pt x="545435" y="405421"/>
                  </a:lnTo>
                  <a:lnTo>
                    <a:pt x="0" y="405421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45435" cy="462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Extracted features &amp; metrics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10634748">
            <a:off x="14694767" y="7415025"/>
            <a:ext cx="1345389" cy="442755"/>
          </a:xfrm>
          <a:custGeom>
            <a:avLst/>
            <a:gdLst/>
            <a:ahLst/>
            <a:cxnLst/>
            <a:rect r="r" b="b" t="t" l="l"/>
            <a:pathLst>
              <a:path h="442755" w="1345389">
                <a:moveTo>
                  <a:pt x="0" y="0"/>
                </a:moveTo>
                <a:lnTo>
                  <a:pt x="1345389" y="0"/>
                </a:lnTo>
                <a:lnTo>
                  <a:pt x="1345389" y="442755"/>
                </a:lnTo>
                <a:lnTo>
                  <a:pt x="0" y="442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37665"/>
            <a:ext cx="7245166" cy="6758467"/>
            <a:chOff x="0" y="0"/>
            <a:chExt cx="1908192" cy="1780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8192" cy="1780008"/>
            </a:xfrm>
            <a:custGeom>
              <a:avLst/>
              <a:gdLst/>
              <a:ahLst/>
              <a:cxnLst/>
              <a:rect r="r" b="b" t="t" l="l"/>
              <a:pathLst>
                <a:path h="1780008" w="1908192">
                  <a:moveTo>
                    <a:pt x="0" y="0"/>
                  </a:moveTo>
                  <a:lnTo>
                    <a:pt x="1908192" y="0"/>
                  </a:lnTo>
                  <a:lnTo>
                    <a:pt x="1908192" y="1780008"/>
                  </a:lnTo>
                  <a:lnTo>
                    <a:pt x="0" y="1780008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08192" cy="1837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97994" y="1069690"/>
            <a:ext cx="835390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Limitations &amp; Future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90665"/>
            <a:ext cx="7245166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Limitations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7651" y="3851007"/>
            <a:ext cx="6487264" cy="502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Works best with clean, high-contrast Kolam images.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Sensitive to noise, shadows, and perspective distortion.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support for highly complex or irregular patterns.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Rule-based approach may not generalize to all Kolam styles.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24042" y="2737665"/>
            <a:ext cx="7245166" cy="6758467"/>
            <a:chOff x="0" y="0"/>
            <a:chExt cx="1908192" cy="17800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8192" cy="1780008"/>
            </a:xfrm>
            <a:custGeom>
              <a:avLst/>
              <a:gdLst/>
              <a:ahLst/>
              <a:cxnLst/>
              <a:rect r="r" b="b" t="t" l="l"/>
              <a:pathLst>
                <a:path h="1780008" w="1908192">
                  <a:moveTo>
                    <a:pt x="0" y="0"/>
                  </a:moveTo>
                  <a:lnTo>
                    <a:pt x="1908192" y="0"/>
                  </a:lnTo>
                  <a:lnTo>
                    <a:pt x="1908192" y="1780008"/>
                  </a:lnTo>
                  <a:lnTo>
                    <a:pt x="0" y="1780008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08192" cy="1837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924042" y="2890665"/>
            <a:ext cx="7245166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3851007"/>
            <a:ext cx="6487264" cy="547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rate machine learning for robust pattern recognition.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real-time mobile-based Kolam detection.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 to more Kolam styles and regional variations.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Enh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ance UI with interactive drawing and editing features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57575" y="1069690"/>
            <a:ext cx="363474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Conclusion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1190" y="2892358"/>
            <a:ext cx="13567509" cy="547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Developed a rule-based system for Kolam generation and analysis.</a:t>
            </a:r>
          </a:p>
          <a:p>
            <a:pPr algn="just">
              <a:lnSpc>
                <a:spcPts val="3640"/>
              </a:lnSpc>
            </a:pPr>
          </a:p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Successfully modeled Kolam structures using computational geometry.</a:t>
            </a:r>
          </a:p>
          <a:p>
            <a:pPr algn="just">
              <a:lnSpc>
                <a:spcPts val="3640"/>
              </a:lnSpc>
            </a:pPr>
          </a:p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Implemented both pattern generation and image-based analysis modules.</a:t>
            </a:r>
          </a:p>
          <a:p>
            <a:pPr algn="just">
              <a:lnSpc>
                <a:spcPts val="3640"/>
              </a:lnSpc>
            </a:pPr>
          </a:p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Extracted key features such as dots, loops, symmetry, and complexity.</a:t>
            </a:r>
          </a:p>
          <a:p>
            <a:pPr algn="just">
              <a:lnSpc>
                <a:spcPts val="3640"/>
              </a:lnSpc>
            </a:pPr>
          </a:p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Demonstrated a functional web-based interface with real-time results.</a:t>
            </a: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designed and implemented both generation and analysis modules, integrating computational geometry and image processing into a unified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9606" y="-241126"/>
            <a:ext cx="23349454" cy="13347765"/>
          </a:xfrm>
          <a:custGeom>
            <a:avLst/>
            <a:gdLst/>
            <a:ahLst/>
            <a:cxnLst/>
            <a:rect r="r" b="b" t="t" l="l"/>
            <a:pathLst>
              <a:path h="13347765" w="23349454">
                <a:moveTo>
                  <a:pt x="0" y="0"/>
                </a:moveTo>
                <a:lnTo>
                  <a:pt x="23349454" y="0"/>
                </a:lnTo>
                <a:lnTo>
                  <a:pt x="23349454" y="13347765"/>
                </a:lnTo>
                <a:lnTo>
                  <a:pt x="0" y="13347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0" t="-7914" r="-70810" b="-10660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2407" y="4230308"/>
            <a:ext cx="6434157" cy="164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8"/>
              </a:lnSpc>
              <a:spcBef>
                <a:spcPct val="0"/>
              </a:spcBef>
            </a:pPr>
            <a:r>
              <a:rPr lang="en-US" b="true" sz="9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36597" y="6726954"/>
            <a:ext cx="3365778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DAHHvguwun0</dc:identifier>
  <dcterms:modified xsi:type="dcterms:W3CDTF">2011-08-01T06:04:30Z</dcterms:modified>
  <cp:revision>1</cp:revision>
  <dc:title>KolamKala Rule-Based Kolam Generation and Analysis</dc:title>
</cp:coreProperties>
</file>